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esamanru OTF Bold"/>
      <p:bold r:id="rId10"/>
    </p:embeddedFont>
    <p:embeddedFont>
      <p:font typeface="esamanru OTF Medium"/>
      <p:bold r:id="rId11"/>
    </p:embeddedFont>
    <p:embeddedFont>
      <p:font typeface="Pretendard Medium"/>
      <p:bold r:id="rId12"/>
    </p:embeddedFont>
    <p:embeddedFont>
      <p:font typeface="Pretendard SemiBold"/>
      <p:bold r:id="rId13"/>
    </p:embeddedFont>
    <p:embeddedFont>
      <p:font typeface="Pretendard ExtraBold"/>
      <p:bold r:id="rId14"/>
    </p:embeddedFont>
    <p:embeddedFont>
      <p:font typeface="Pretendard Regular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.fntdata" Type="http://schemas.openxmlformats.org/officeDocument/2006/relationships/font"/><Relationship Id="rId11" Target="fonts/font2.fntdata" Type="http://schemas.openxmlformats.org/officeDocument/2006/relationships/font"/><Relationship Id="rId12" Target="fonts/font3.fntdata" Type="http://schemas.openxmlformats.org/officeDocument/2006/relationships/font"/><Relationship Id="rId13" Target="fonts/font4.fntdata" Type="http://schemas.openxmlformats.org/officeDocument/2006/relationships/font"/><Relationship Id="rId14" Target="fonts/font5.fntdata" Type="http://schemas.openxmlformats.org/officeDocument/2006/relationships/font"/><Relationship Id="rId15" Target="fonts/font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35100" y="8166100"/>
            <a:ext cx="15430500" cy="12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686300" y="5194300"/>
            <a:ext cx="8902700" cy="186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0500" b="false" i="false" u="none" strike="noStrike">
                <a:solidFill>
                  <a:srgbClr val="715130"/>
                </a:solidFill>
                <a:latin typeface="esamanru OTF Bold"/>
              </a:rPr>
              <a:t>2</a:t>
            </a:r>
            <a:r>
              <a:rPr lang="ko-KR" sz="10500" b="false" i="false" u="none" strike="noStrike">
                <a:solidFill>
                  <a:srgbClr val="715130"/>
                </a:solidFill>
                <a:ea typeface="esamanru OTF Bold"/>
              </a:rPr>
              <a:t>차</a:t>
            </a:r>
            <a:r>
              <a:rPr lang="en-US" sz="105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10500" b="false" i="false" u="none" strike="noStrike">
                <a:solidFill>
                  <a:srgbClr val="715130"/>
                </a:solidFill>
                <a:ea typeface="esamanru OTF Bold"/>
              </a:rPr>
              <a:t>프로젝트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90800" y="3416300"/>
            <a:ext cx="13093700" cy="176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0000" b="false" i="false" u="none" strike="noStrike" spc="-100">
                <a:solidFill>
                  <a:srgbClr val="B0966E"/>
                </a:solidFill>
                <a:latin typeface="esamanru OTF Medium"/>
              </a:rPr>
              <a:t>2D</a:t>
            </a:r>
            <a:r>
              <a:rPr lang="ko-KR" sz="10000" b="false" i="false" u="none" strike="noStrike" spc="-100">
                <a:solidFill>
                  <a:srgbClr val="B0966E"/>
                </a:solidFill>
                <a:ea typeface="esamanru OTF Medium"/>
              </a:rPr>
              <a:t>게임프로그래밍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02100" y="8305800"/>
            <a:ext cx="10083800" cy="774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4300" b="false" i="false" u="none" strike="noStrike" spc="-100">
                <a:solidFill>
                  <a:srgbClr val="B0966E"/>
                </a:solidFill>
                <a:ea typeface="esamanru OTF Medium"/>
              </a:rPr>
              <a:t>게임공학과</a:t>
            </a:r>
            <a:r>
              <a:rPr lang="en-US" sz="4300" b="false" i="false" u="none" strike="noStrike" spc="-100">
                <a:solidFill>
                  <a:srgbClr val="B0966E"/>
                </a:solidFill>
                <a:latin typeface="esamanru OTF Medium"/>
              </a:rPr>
              <a:t> 2022184021 </a:t>
            </a:r>
            <a:r>
              <a:rPr lang="ko-KR" sz="4300" b="false" i="false" u="none" strike="noStrike" spc="-100">
                <a:solidFill>
                  <a:srgbClr val="B0966E"/>
                </a:solidFill>
                <a:ea typeface="esamanru OTF Medium"/>
              </a:rPr>
              <a:t>성명교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7493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0300" y="1955800"/>
            <a:ext cx="16179800" cy="71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0300" y="2768600"/>
            <a:ext cx="16179800" cy="71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0300" y="3594100"/>
            <a:ext cx="16179800" cy="71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0300" y="4445000"/>
            <a:ext cx="16179800" cy="7112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044700" y="2311400"/>
            <a:ext cx="19685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결과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7600" y="2044700"/>
            <a:ext cx="9906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1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0600" y="1485900"/>
            <a:ext cx="163830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8729"/>
              </a:lnSpc>
            </a:pP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   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주차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                                                                                 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계획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및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결과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                                                                               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진행률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9300" y="711200"/>
            <a:ext cx="9474200" cy="774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4300" b="false" i="false" u="none" strike="noStrike" spc="100">
                <a:solidFill>
                  <a:srgbClr val="B0966E"/>
                </a:solidFill>
                <a:ea typeface="Pretendard ExtraBold"/>
              </a:rPr>
              <a:t>프로젝트</a:t>
            </a:r>
            <a:r>
              <a:rPr lang="en-US" sz="4300" b="false" i="false" u="none" strike="noStrike" spc="100">
                <a:solidFill>
                  <a:srgbClr val="B0966E"/>
                </a:solidFill>
                <a:latin typeface="Pretendard ExtraBold"/>
              </a:rPr>
              <a:t> </a:t>
            </a:r>
            <a:r>
              <a:rPr lang="ko-KR" sz="4300" b="false" i="false" u="none" strike="noStrike" spc="100">
                <a:solidFill>
                  <a:srgbClr val="B0966E"/>
                </a:solidFill>
                <a:ea typeface="Pretendard ExtraBold"/>
              </a:rPr>
              <a:t>개발</a:t>
            </a:r>
            <a:r>
              <a:rPr lang="en-US" sz="4300" b="false" i="false" u="none" strike="noStrike" spc="100">
                <a:solidFill>
                  <a:srgbClr val="B0966E"/>
                </a:solidFill>
                <a:latin typeface="Pretendard ExtraBold"/>
              </a:rPr>
              <a:t> </a:t>
            </a:r>
            <a:r>
              <a:rPr lang="ko-KR" sz="4300" b="false" i="false" u="none" strike="noStrike" spc="100">
                <a:solidFill>
                  <a:srgbClr val="B0966E"/>
                </a:solidFill>
                <a:ea typeface="Pretendard ExtraBold"/>
              </a:rPr>
              <a:t>진행</a:t>
            </a:r>
            <a:r>
              <a:rPr lang="en-US" sz="4300" b="false" i="false" u="none" strike="noStrike" spc="100">
                <a:solidFill>
                  <a:srgbClr val="B0966E"/>
                </a:solidFill>
                <a:latin typeface="Pretendard ExtraBold"/>
              </a:rPr>
              <a:t> </a:t>
            </a:r>
            <a:r>
              <a:rPr lang="ko-KR" sz="4300" b="false" i="false" u="none" strike="noStrike" spc="100">
                <a:solidFill>
                  <a:srgbClr val="B0966E"/>
                </a:solidFill>
                <a:ea typeface="Pretendard ExtraBold"/>
              </a:rPr>
              <a:t>상황</a:t>
            </a:r>
            <a:r>
              <a:rPr lang="en-US" sz="4300" b="false" i="false" u="none" strike="noStrike" spc="100">
                <a:solidFill>
                  <a:srgbClr val="B0966E"/>
                </a:solidFill>
                <a:latin typeface="Pretendard ExtraBold"/>
              </a:rPr>
              <a:t> - </a:t>
            </a:r>
            <a:r>
              <a:rPr lang="ko-KR" sz="4300" b="false" i="false" u="none" strike="noStrike" spc="100">
                <a:solidFill>
                  <a:srgbClr val="B0966E"/>
                </a:solidFill>
                <a:ea typeface="Pretendard ExtraBold"/>
              </a:rPr>
              <a:t>평균</a:t>
            </a:r>
            <a:r>
              <a:rPr lang="en-US" sz="4300" b="false" i="false" u="none" strike="noStrike" spc="100">
                <a:solidFill>
                  <a:srgbClr val="B0966E"/>
                </a:solidFill>
                <a:latin typeface="Pretendard ExtraBold"/>
              </a:rPr>
              <a:t> 88.75%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900" y="2857500"/>
            <a:ext cx="10541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2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4900" y="3695700"/>
            <a:ext cx="10541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3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4900" y="4533900"/>
            <a:ext cx="10541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4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5295900"/>
            <a:ext cx="16179800" cy="7112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04900" y="5397500"/>
            <a:ext cx="11049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5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6172200"/>
            <a:ext cx="16179800" cy="7112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104900" y="6261100"/>
            <a:ext cx="10922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6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2200" y="7010400"/>
            <a:ext cx="16179800" cy="7112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104900" y="7086600"/>
            <a:ext cx="10922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7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6800" y="7848600"/>
            <a:ext cx="16179800" cy="7112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155700" y="7950200"/>
            <a:ext cx="10287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8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54100" y="8674100"/>
            <a:ext cx="16179800" cy="7112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155700" y="8763000"/>
            <a:ext cx="1016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9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44700" y="19431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44700" y="31496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결과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44700" y="27940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44700" y="39624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결과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44700" y="36068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044700" y="47879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결과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044700" y="44323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95500" y="54737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095500" y="63500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095500" y="71755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095500" y="80264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44700" y="88646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040100" y="2298700"/>
            <a:ext cx="1295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95%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040100" y="3111500"/>
            <a:ext cx="1295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80%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040100" y="3937000"/>
            <a:ext cx="1295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100%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040100" y="4787900"/>
            <a:ext cx="1295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80%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530600" y="19685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리소스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배경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리소스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UI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리소스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스프라이트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수집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530600" y="22987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리소스와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UI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리소스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수집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완료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배경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리소스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수집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X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530600" y="27559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Idle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상태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좌우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이동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점프모션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530600" y="30988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Idle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상태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좌우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이동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완료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점프모션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X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530600" y="35941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4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가지의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일반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공격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(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평타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)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530600" y="39243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4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가지의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일반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공격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(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평타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)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완료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30600" y="44450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4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가지의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일반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스킬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530600" y="47879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4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가지의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일반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스킬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완료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1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가지의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일반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스킬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발사체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X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530600" y="54737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4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가지의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궁극기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스킬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530600" y="63373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플레이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화면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UI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530600" y="71755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선택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화면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530600" y="80264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게임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시작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화면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530600" y="88392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시스템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개선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및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버그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수정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9800" y="1981200"/>
            <a:ext cx="16395700" cy="7366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23900" y="698500"/>
            <a:ext cx="69850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7200" b="false" i="false" u="none" strike="noStrike" spc="200">
                <a:solidFill>
                  <a:srgbClr val="B0966E"/>
                </a:solidFill>
                <a:latin typeface="Pretendard ExtraBold"/>
              </a:rPr>
              <a:t>Github </a:t>
            </a:r>
            <a:r>
              <a:rPr lang="ko-KR" sz="7200" b="false" i="false" u="none" strike="noStrike" spc="200">
                <a:solidFill>
                  <a:srgbClr val="B0966E"/>
                </a:solidFill>
                <a:ea typeface="Pretendard ExtraBold"/>
              </a:rPr>
              <a:t>커밋</a:t>
            </a:r>
            <a:r>
              <a:rPr lang="en-US" sz="7200" b="false" i="false" u="none" strike="noStrike" spc="200">
                <a:solidFill>
                  <a:srgbClr val="B0966E"/>
                </a:solidFill>
                <a:latin typeface="Pretendard ExtraBold"/>
              </a:rPr>
              <a:t> </a:t>
            </a:r>
            <a:r>
              <a:rPr lang="ko-KR" sz="7200" b="false" i="false" u="none" strike="noStrike" spc="200">
                <a:solidFill>
                  <a:srgbClr val="B0966E"/>
                </a:solidFill>
                <a:ea typeface="Pretendard ExtraBold"/>
              </a:rPr>
              <a:t>통계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800600" y="2870200"/>
            <a:ext cx="86995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추가된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내용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: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빨간색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글씨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51500" y="1524000"/>
            <a:ext cx="69850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7200" b="false" i="false" u="none" strike="noStrike" spc="200">
                <a:solidFill>
                  <a:srgbClr val="B0966E"/>
                </a:solidFill>
                <a:ea typeface="Pretendard ExtraBold"/>
              </a:rPr>
              <a:t>계획</a:t>
            </a:r>
            <a:r>
              <a:rPr lang="en-US" sz="7200" b="false" i="false" u="none" strike="noStrike" spc="200">
                <a:solidFill>
                  <a:srgbClr val="B0966E"/>
                </a:solidFill>
                <a:latin typeface="Pretendard ExtraBold"/>
              </a:rPr>
              <a:t> </a:t>
            </a:r>
            <a:r>
              <a:rPr lang="ko-KR" sz="7200" b="false" i="false" u="none" strike="noStrike" spc="200">
                <a:solidFill>
                  <a:srgbClr val="B0966E"/>
                </a:solidFill>
                <a:ea typeface="Pretendard ExtraBold"/>
              </a:rPr>
              <a:t>추가</a:t>
            </a:r>
            <a:r>
              <a:rPr lang="en-US" sz="7200" b="false" i="false" u="none" strike="noStrike" spc="200">
                <a:solidFill>
                  <a:srgbClr val="B0966E"/>
                </a:solidFill>
                <a:latin typeface="Pretendard ExtraBold"/>
              </a:rPr>
              <a:t> </a:t>
            </a:r>
            <a:r>
              <a:rPr lang="ko-KR" sz="7200" b="false" i="false" u="none" strike="noStrike" spc="200">
                <a:solidFill>
                  <a:srgbClr val="B0966E"/>
                </a:solidFill>
                <a:ea typeface="Pretendard ExtraBold"/>
              </a:rPr>
              <a:t>내용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38600" y="3594100"/>
            <a:ext cx="3060700" cy="4826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4368800" y="4521200"/>
            <a:ext cx="2400300" cy="546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3100" b="false" i="false" u="none" strike="noStrike" spc="100">
                <a:solidFill>
                  <a:srgbClr val="715130"/>
                </a:solidFill>
                <a:latin typeface="esamanru OTF Medium"/>
              </a:rPr>
              <a:t>6</a:t>
            </a:r>
            <a:r>
              <a:rPr lang="ko-KR" sz="3100" b="false" i="false" u="none" strike="noStrike" spc="100">
                <a:solidFill>
                  <a:srgbClr val="715130"/>
                </a:solidFill>
                <a:ea typeface="esamanru OTF Medium"/>
              </a:rPr>
              <a:t>주차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02100" y="3657600"/>
            <a:ext cx="29210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600" b="false" i="false" u="none" strike="noStrike" spc="3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2600" b="false" i="false" u="none" strike="noStrike" spc="300">
                <a:solidFill>
                  <a:srgbClr val="B0966E"/>
                </a:solidFill>
                <a:latin typeface="Pretendard Medium"/>
              </a:rPr>
              <a:t>06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38600" y="5054600"/>
            <a:ext cx="3035300" cy="285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플레이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UI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FC5230"/>
                </a:solidFill>
                <a:ea typeface="Pretendard Regular"/>
              </a:rPr>
              <a:t>객체</a:t>
            </a:r>
            <a:r>
              <a:rPr lang="en-US" sz="4000" b="false" i="false" u="none" strike="noStrike">
                <a:solidFill>
                  <a:srgbClr val="FC523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FC5230"/>
                </a:solidFill>
                <a:ea typeface="Pretendard Regular"/>
              </a:rPr>
              <a:t>간</a:t>
            </a:r>
          </a:p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FC5230"/>
                </a:solidFill>
                <a:ea typeface="Pretendard Regular"/>
              </a:rPr>
              <a:t>충돌</a:t>
            </a:r>
            <a:r>
              <a:rPr lang="en-US" sz="4000" b="false" i="false" u="none" strike="noStrike">
                <a:solidFill>
                  <a:srgbClr val="FC523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FC5230"/>
                </a:solidFill>
                <a:ea typeface="Pretendard Regular"/>
              </a:rPr>
              <a:t>처리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645400" y="3594100"/>
            <a:ext cx="3060700" cy="4826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7975600" y="4521200"/>
            <a:ext cx="2400300" cy="546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3100" b="false" i="false" u="none" strike="noStrike" spc="100">
                <a:solidFill>
                  <a:srgbClr val="715130"/>
                </a:solidFill>
                <a:latin typeface="esamanru OTF Medium"/>
              </a:rPr>
              <a:t>7</a:t>
            </a:r>
            <a:r>
              <a:rPr lang="ko-KR" sz="3100" b="false" i="false" u="none" strike="noStrike" spc="100">
                <a:solidFill>
                  <a:srgbClr val="715130"/>
                </a:solidFill>
                <a:ea typeface="esamanru OTF Medium"/>
              </a:rPr>
              <a:t>주차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97800" y="3632200"/>
            <a:ext cx="27559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600" b="false" i="false" u="none" strike="noStrike" spc="3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2600" b="false" i="false" u="none" strike="noStrike" spc="300">
                <a:solidFill>
                  <a:srgbClr val="B0966E"/>
                </a:solidFill>
                <a:latin typeface="Pretendard Medium"/>
              </a:rPr>
              <a:t>07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70800" y="5118100"/>
            <a:ext cx="3035300" cy="285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</a:p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FC5230"/>
                </a:solidFill>
                <a:ea typeface="Pretendard Regular"/>
              </a:rPr>
              <a:t>객체</a:t>
            </a:r>
            <a:r>
              <a:rPr lang="en-US" sz="4000" b="false" i="false" u="none" strike="noStrike">
                <a:solidFill>
                  <a:srgbClr val="FC523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FC5230"/>
                </a:solidFill>
                <a:ea typeface="Pretendard Regular"/>
              </a:rPr>
              <a:t>간</a:t>
            </a:r>
          </a:p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FC5230"/>
                </a:solidFill>
                <a:ea typeface="Pretendard Regular"/>
              </a:rPr>
              <a:t>충돌처리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88700" y="3594100"/>
            <a:ext cx="3060700" cy="4826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1518900" y="4521200"/>
            <a:ext cx="2400300" cy="546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3100" b="false" i="false" u="none" strike="noStrike" spc="100">
                <a:solidFill>
                  <a:srgbClr val="715130"/>
                </a:solidFill>
                <a:latin typeface="esamanru OTF Medium"/>
              </a:rPr>
              <a:t>8</a:t>
            </a:r>
            <a:r>
              <a:rPr lang="ko-KR" sz="3100" b="false" i="false" u="none" strike="noStrike" spc="100">
                <a:solidFill>
                  <a:srgbClr val="715130"/>
                </a:solidFill>
                <a:ea typeface="esamanru OTF Medium"/>
              </a:rPr>
              <a:t>주차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90300" y="3632200"/>
            <a:ext cx="28702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600" b="false" i="false" u="none" strike="noStrike" spc="3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2600" b="false" i="false" u="none" strike="noStrike" spc="300">
                <a:solidFill>
                  <a:srgbClr val="B0966E"/>
                </a:solidFill>
                <a:latin typeface="Pretendard Medium"/>
              </a:rPr>
              <a:t>08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14100" y="5118100"/>
            <a:ext cx="3035300" cy="285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</a:p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시작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FC5230"/>
                </a:solidFill>
                <a:ea typeface="Pretendard Regular"/>
              </a:rPr>
              <a:t>객체</a:t>
            </a:r>
          </a:p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FC5230"/>
                </a:solidFill>
                <a:ea typeface="Pretendard Regular"/>
              </a:rPr>
              <a:t>피격</a:t>
            </a:r>
            <a:r>
              <a:rPr lang="en-US" sz="4000" b="false" i="false" u="none" strike="noStrike">
                <a:solidFill>
                  <a:srgbClr val="FC523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FC5230"/>
                </a:solidFill>
                <a:ea typeface="Pretendard Regular"/>
              </a:rPr>
              <a:t>모션</a:t>
            </a:r>
            <a:r>
              <a:rPr lang="en-US" sz="4000" b="false" i="false" u="none" strike="noStrike">
                <a:solidFill>
                  <a:srgbClr val="FC523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FC5230"/>
                </a:solidFill>
                <a:ea typeface="Pretendard Regular"/>
              </a:rPr>
              <a:t>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