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esamanru OTF Bold"/>
      <p:bold r:id="rId14"/>
    </p:embeddedFont>
    <p:embeddedFont>
      <p:font typeface="esamanru OTF Medium"/>
      <p:bold r:id="rId15"/>
    </p:embeddedFont>
    <p:embeddedFont>
      <p:font typeface="Pretendard Medium"/>
      <p:bold r:id="rId16"/>
    </p:embeddedFont>
    <p:embeddedFont>
      <p:font typeface="Pretendard SemiBold"/>
      <p:bold r:id="rId17"/>
    </p:embeddedFont>
    <p:embeddedFont>
      <p:font typeface="Pretendard ExtraBold"/>
      <p:bold r:id="rId18"/>
    </p:embeddedFont>
    <p:embeddedFont>
      <p:font typeface="Pretendard Regular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.fntdata" Type="http://schemas.openxmlformats.org/officeDocument/2006/relationships/font"/><Relationship Id="rId15" Target="fonts/font2.fntdata" Type="http://schemas.openxmlformats.org/officeDocument/2006/relationships/font"/><Relationship Id="rId16" Target="fonts/font3.fntdata" Type="http://schemas.openxmlformats.org/officeDocument/2006/relationships/font"/><Relationship Id="rId17" Target="fonts/font4.fntdata" Type="http://schemas.openxmlformats.org/officeDocument/2006/relationships/font"/><Relationship Id="rId18" Target="fonts/font5.fntdata" Type="http://schemas.openxmlformats.org/officeDocument/2006/relationships/font"/><Relationship Id="rId19" Target="fonts/font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8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0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1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2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5100" y="8166100"/>
            <a:ext cx="154305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686300" y="5194300"/>
            <a:ext cx="8902700" cy="186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0500" b="false" i="false" u="none" strike="noStrike">
                <a:solidFill>
                  <a:srgbClr val="715130"/>
                </a:solidFill>
                <a:latin typeface="esamanru OTF Bold"/>
              </a:rPr>
              <a:t>1</a:t>
            </a:r>
            <a:r>
              <a:rPr lang="ko-KR" sz="10500" b="false" i="false" u="none" strike="noStrike">
                <a:solidFill>
                  <a:srgbClr val="715130"/>
                </a:solidFill>
                <a:ea typeface="esamanru OTF Bold"/>
              </a:rPr>
              <a:t>차</a:t>
            </a:r>
            <a:r>
              <a:rPr lang="en-US" sz="105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10500" b="false" i="false" u="none" strike="noStrike">
                <a:solidFill>
                  <a:srgbClr val="715130"/>
                </a:solidFill>
                <a:ea typeface="esamanru OTF Bold"/>
              </a:rPr>
              <a:t>프로젝트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90800" y="3416300"/>
            <a:ext cx="13093700" cy="176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0000" b="false" i="false" u="none" strike="noStrike" spc="-100">
                <a:solidFill>
                  <a:srgbClr val="B0966E"/>
                </a:solidFill>
                <a:latin typeface="esamanru OTF Medium"/>
              </a:rPr>
              <a:t>2D</a:t>
            </a:r>
            <a:r>
              <a:rPr lang="ko-KR" sz="10000" b="false" i="false" u="none" strike="noStrike" spc="-100">
                <a:solidFill>
                  <a:srgbClr val="B0966E"/>
                </a:solidFill>
                <a:ea typeface="esamanru OTF Medium"/>
              </a:rPr>
              <a:t>게임프로그래밍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02100" y="8305800"/>
            <a:ext cx="100838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4300" b="false" i="false" u="none" strike="noStrike" spc="-100">
                <a:solidFill>
                  <a:srgbClr val="B0966E"/>
                </a:solidFill>
                <a:ea typeface="esamanru OTF Medium"/>
              </a:rPr>
              <a:t>게임공학과</a:t>
            </a:r>
            <a:r>
              <a:rPr lang="en-US" sz="4300" b="false" i="false" u="none" strike="noStrike" spc="-100">
                <a:solidFill>
                  <a:srgbClr val="B0966E"/>
                </a:solidFill>
                <a:latin typeface="esamanru OTF Medium"/>
              </a:rPr>
              <a:t> 2022184021 </a:t>
            </a:r>
            <a:r>
              <a:rPr lang="ko-KR" sz="4300" b="false" i="false" u="none" strike="noStrike" spc="-100">
                <a:solidFill>
                  <a:srgbClr val="B0966E"/>
                </a:solidFill>
                <a:ea typeface="esamanru OTF Medium"/>
              </a:rPr>
              <a:t>성명교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7493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88800" y="4152900"/>
            <a:ext cx="2743200" cy="431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772400" y="4152900"/>
            <a:ext cx="2743200" cy="431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441700" y="4152900"/>
            <a:ext cx="2743200" cy="4318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2090400" y="6032500"/>
            <a:ext cx="25400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3000" b="false" i="false" u="none" strike="noStrike" spc="100">
                <a:solidFill>
                  <a:srgbClr val="715130"/>
                </a:solidFill>
                <a:ea typeface="esamanru OTF Medium"/>
              </a:rPr>
              <a:t>개발</a:t>
            </a:r>
            <a:r>
              <a:rPr lang="en-US" sz="3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3000" b="false" i="false" u="none" strike="noStrike" spc="100">
                <a:solidFill>
                  <a:srgbClr val="715130"/>
                </a:solidFill>
                <a:ea typeface="esamanru OTF Medium"/>
              </a:rPr>
              <a:t>일정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07900" y="4927600"/>
            <a:ext cx="19050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7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700" b="false" i="false" u="none" strike="noStrike" spc="200">
                <a:solidFill>
                  <a:srgbClr val="B0966E"/>
                </a:solidFill>
                <a:latin typeface="Pretendard Medium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99400" y="5791200"/>
            <a:ext cx="25400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3000" b="false" i="false" u="none" strike="noStrike" spc="100">
                <a:solidFill>
                  <a:srgbClr val="715130"/>
                </a:solidFill>
                <a:ea typeface="esamanru OTF Medium"/>
              </a:rPr>
              <a:t>예상</a:t>
            </a:r>
            <a:r>
              <a:rPr lang="en-US" sz="3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3000" b="false" i="false" u="none" strike="noStrike" spc="100">
                <a:solidFill>
                  <a:srgbClr val="715130"/>
                </a:solidFill>
                <a:ea typeface="esamanru OTF Medium"/>
              </a:rPr>
              <a:t>게임</a:t>
            </a:r>
            <a:r>
              <a:rPr lang="en-US" sz="3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3000" b="false" i="false" u="none" strike="noStrike" spc="100">
                <a:solidFill>
                  <a:srgbClr val="715130"/>
                </a:solidFill>
                <a:ea typeface="esamanru OTF Medium"/>
              </a:rPr>
              <a:t>진행흐름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91500" y="4927600"/>
            <a:ext cx="19050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7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700" b="false" i="false" u="none" strike="noStrike" spc="200">
                <a:solidFill>
                  <a:srgbClr val="B0966E"/>
                </a:solidFill>
                <a:latin typeface="Pretendard Medium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92500" y="6007100"/>
            <a:ext cx="2679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3200" b="false" i="false" u="none" strike="noStrike" spc="100">
                <a:solidFill>
                  <a:srgbClr val="715130"/>
                </a:solidFill>
                <a:ea typeface="esamanru OTF Medium"/>
              </a:rPr>
              <a:t>게임</a:t>
            </a:r>
            <a:r>
              <a:rPr lang="en-US" sz="32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3200" b="false" i="false" u="none" strike="noStrike" spc="100">
                <a:solidFill>
                  <a:srgbClr val="715130"/>
                </a:solidFill>
                <a:ea typeface="esamanru OTF Medium"/>
              </a:rPr>
              <a:t>컨셉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73500" y="4902200"/>
            <a:ext cx="19050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7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700" b="false" i="false" u="none" strike="noStrike" spc="200">
                <a:solidFill>
                  <a:srgbClr val="B0966E"/>
                </a:solidFill>
                <a:latin typeface="Pretendard Medium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00600" y="2870200"/>
            <a:ext cx="86995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발표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진행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과정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51500" y="1524000"/>
            <a:ext cx="69850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7200" y="5143500"/>
            <a:ext cx="14820900" cy="3594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1879600"/>
            <a:ext cx="154305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505200" y="5588000"/>
            <a:ext cx="10693400" cy="80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500" b="true" i="false" u="none" strike="noStrike">
                <a:solidFill>
                  <a:srgbClr val="000000"/>
                </a:solidFill>
                <a:latin typeface="Pretendard Regular"/>
              </a:rPr>
              <a:t>2D </a:t>
            </a:r>
            <a:r>
              <a:rPr lang="ko-KR" sz="4500" b="true" i="false" u="none" strike="noStrike">
                <a:solidFill>
                  <a:srgbClr val="000000"/>
                </a:solidFill>
                <a:ea typeface="Pretendard Regular"/>
              </a:rPr>
              <a:t>그래픽으로</a:t>
            </a:r>
            <a:r>
              <a:rPr lang="en-US" sz="45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true" i="false" u="none" strike="noStrike">
                <a:solidFill>
                  <a:srgbClr val="000000"/>
                </a:solidFill>
                <a:ea typeface="Pretendard Regular"/>
              </a:rPr>
              <a:t>이루어진</a:t>
            </a:r>
            <a:r>
              <a:rPr lang="en-US" sz="4500" b="true" i="false" u="none" strike="noStrike">
                <a:solidFill>
                  <a:srgbClr val="000000"/>
                </a:solidFill>
                <a:latin typeface="Pretendard Regular"/>
              </a:rPr>
              <a:t> PVP </a:t>
            </a:r>
            <a:r>
              <a:rPr lang="ko-KR" sz="4500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45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true" i="false" u="none" strike="noStrike">
                <a:solidFill>
                  <a:srgbClr val="000000"/>
                </a:solidFill>
                <a:ea typeface="Pretendard Regular"/>
              </a:rPr>
              <a:t>격투</a:t>
            </a:r>
            <a:r>
              <a:rPr lang="en-US" sz="45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500" b="tru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73700" y="2921000"/>
            <a:ext cx="7353300" cy="160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9000" b="false" i="false" u="none" strike="noStrike">
                <a:solidFill>
                  <a:srgbClr val="715130"/>
                </a:solidFill>
                <a:ea typeface="esamanru OTF Bold"/>
              </a:rPr>
              <a:t>게임</a:t>
            </a:r>
            <a:r>
              <a:rPr lang="en-US" sz="9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9000" b="false" i="false" u="none" strike="noStrike">
                <a:solidFill>
                  <a:srgbClr val="715130"/>
                </a:solidFill>
                <a:ea typeface="esamanru OTF Bold"/>
              </a:rPr>
              <a:t>컨셉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04200" y="6616700"/>
            <a:ext cx="18796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500" b="false" i="false" u="none" strike="noStrike">
                <a:solidFill>
                  <a:srgbClr val="000000"/>
                </a:solidFill>
                <a:ea typeface="Pretendard Regular"/>
              </a:rPr>
              <a:t>재미</a:t>
            </a:r>
            <a:r>
              <a:rPr lang="en-US" sz="3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false" i="false" u="none" strike="noStrike">
                <a:solidFill>
                  <a:srgbClr val="000000"/>
                </a:solidFill>
                <a:ea typeface="Pretendard Regular"/>
              </a:rPr>
              <a:t>요소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05000" y="7213600"/>
            <a:ext cx="149733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 indent="-342900" marL="342900">
              <a:lnSpc>
                <a:spcPct val="116199"/>
              </a:lnSpc>
              <a:buAutoNum type="arabicPeriod" startAt="1"/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PVP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전투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시스템으로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승리를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얻는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재미</a:t>
            </a:r>
          </a:p>
          <a:p>
            <a:pPr algn="ctr" lvl="0" indent="-342900" marL="342900">
              <a:lnSpc>
                <a:spcPct val="116199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사용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algn="ctr" lvl="0" indent="-342900" marL="342900">
              <a:lnSpc>
                <a:spcPct val="116199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개성있는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사용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47200" y="3479800"/>
            <a:ext cx="7023100" cy="511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943100" y="6019800"/>
            <a:ext cx="63246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 indent="-342900" marL="342900">
              <a:lnSpc>
                <a:spcPct val="136950"/>
              </a:lnSpc>
              <a:buAutoNum type="arabicPeriod" startAt="1"/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스타트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버튼</a:t>
            </a:r>
          </a:p>
          <a:p>
            <a:pPr algn="ctr" lvl="0" indent="-342900" marL="342900">
              <a:lnSpc>
                <a:spcPct val="136950"/>
              </a:lnSpc>
              <a:buAutoNum type="arabicPeriod" startAt="1"/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종료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버튼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0200" y="3822700"/>
            <a:ext cx="7251700" cy="8509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게임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시작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화면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56100" y="1358900"/>
            <a:ext cx="95631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예상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게임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진행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흐름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69700" y="2781300"/>
            <a:ext cx="25781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700" b="false" i="false" u="none" strike="noStrike">
                <a:solidFill>
                  <a:srgbClr val="B0966E"/>
                </a:solidFill>
                <a:ea typeface="esamanru OTF Medium"/>
              </a:rPr>
              <a:t>예시</a:t>
            </a:r>
            <a:r>
              <a:rPr lang="en-US" sz="27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2700" b="false" i="false" u="none" strike="noStrike">
                <a:solidFill>
                  <a:srgbClr val="B0966E"/>
                </a:solidFill>
                <a:ea typeface="esamanru OTF Medium"/>
              </a:rPr>
              <a:t>사진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47200" y="3479800"/>
            <a:ext cx="7023100" cy="511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219200" y="6286500"/>
            <a:ext cx="80137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두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플레이어가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화면에서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3695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06700" y="4241800"/>
            <a:ext cx="48387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캐릭터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선택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화면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56100" y="1358900"/>
            <a:ext cx="95631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예상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진행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게임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흐름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69700" y="2781300"/>
            <a:ext cx="25781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700" b="false" i="false" u="none" strike="noStrike">
                <a:solidFill>
                  <a:srgbClr val="B0966E"/>
                </a:solidFill>
                <a:ea typeface="esamanru OTF Medium"/>
              </a:rPr>
              <a:t>예시</a:t>
            </a:r>
            <a:r>
              <a:rPr lang="en-US" sz="27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2700" b="false" i="false" u="none" strike="noStrike">
                <a:solidFill>
                  <a:srgbClr val="B0966E"/>
                </a:solidFill>
                <a:ea typeface="esamanru OTF Medium"/>
              </a:rPr>
              <a:t>사진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47200" y="3479800"/>
            <a:ext cx="7023100" cy="511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270000" y="5588000"/>
            <a:ext cx="7848600" cy="2006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36950"/>
              </a:lnSpc>
              <a:buAutoNum type="arabicPeriod" startAt="1"/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캐릭터의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일반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일반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궁극기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총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3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가지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algn="l" lvl="0" indent="-342900" marL="342900">
              <a:lnSpc>
                <a:spcPct val="136950"/>
              </a:lnSpc>
              <a:buAutoNum type="arabicPeriod" startAt="1"/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캐릭터의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일반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스킬은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마나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소모</a:t>
            </a:r>
          </a:p>
          <a:p>
            <a:pPr algn="l" lvl="0" indent="-342900" marL="342900">
              <a:lnSpc>
                <a:spcPct val="136950"/>
              </a:lnSpc>
              <a:buAutoNum type="arabicPeriod" startAt="1"/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캐릭터의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궁극기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스킬은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궁극기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게이지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채운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뒤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사용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algn="l" lvl="0" indent="-342900" marL="342900">
              <a:lnSpc>
                <a:spcPct val="136950"/>
              </a:lnSpc>
              <a:buAutoNum type="arabicPeriod" startAt="1"/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플레이어는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상대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플레이어의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체력을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0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으로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만들면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승리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6700" y="3937000"/>
            <a:ext cx="72517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두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플레이어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간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PVP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진행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56100" y="1358900"/>
            <a:ext cx="95631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예상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진행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게임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흐름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69700" y="2781300"/>
            <a:ext cx="25781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700" b="false" i="false" u="none" strike="noStrike">
                <a:solidFill>
                  <a:srgbClr val="B0966E"/>
                </a:solidFill>
                <a:ea typeface="esamanru OTF Medium"/>
              </a:rPr>
              <a:t>예시</a:t>
            </a:r>
            <a:r>
              <a:rPr lang="en-US" sz="27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2700" b="false" i="false" u="none" strike="noStrike">
                <a:solidFill>
                  <a:srgbClr val="B0966E"/>
                </a:solidFill>
                <a:ea typeface="esamanru OTF Medium"/>
              </a:rPr>
              <a:t>사진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47200" y="3479800"/>
            <a:ext cx="7023100" cy="511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" y="2717800"/>
            <a:ext cx="154305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600200" y="6019800"/>
            <a:ext cx="73787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플레이어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머리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위에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3695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승패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결과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출력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Regular"/>
              </a:rPr>
              <a:t>종료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1000" y="3848100"/>
            <a:ext cx="72517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두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플레이어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간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승패</a:t>
            </a:r>
            <a:r>
              <a:rPr lang="en-US" sz="48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4800" b="false" i="false" u="none" strike="noStrike">
                <a:solidFill>
                  <a:srgbClr val="B0966E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56100" y="1358900"/>
            <a:ext cx="95631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예상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진행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게임</a:t>
            </a:r>
            <a:r>
              <a:rPr lang="en-US" sz="70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7000" b="false" i="false" u="none" strike="noStrike">
                <a:solidFill>
                  <a:srgbClr val="715130"/>
                </a:solidFill>
                <a:ea typeface="esamanru OTF Bold"/>
              </a:rPr>
              <a:t>흐름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69700" y="2781300"/>
            <a:ext cx="25781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700" b="false" i="false" u="none" strike="noStrike">
                <a:solidFill>
                  <a:srgbClr val="B0966E"/>
                </a:solidFill>
                <a:ea typeface="esamanru OTF Medium"/>
              </a:rPr>
              <a:t>예시</a:t>
            </a:r>
            <a:r>
              <a:rPr lang="en-US" sz="2700" b="false" i="false" u="none" strike="noStrike">
                <a:solidFill>
                  <a:srgbClr val="B0966E"/>
                </a:solidFill>
                <a:latin typeface="esamanru OTF Medium"/>
              </a:rPr>
              <a:t> </a:t>
            </a:r>
            <a:r>
              <a:rPr lang="ko-KR" sz="2700" b="false" i="false" u="none" strike="noStrike">
                <a:solidFill>
                  <a:srgbClr val="B0966E"/>
                </a:solidFill>
                <a:ea typeface="esamanru OTF Medium"/>
              </a:rPr>
              <a:t>사진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800600" y="2870200"/>
            <a:ext cx="86995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10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월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13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일부터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진행되는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9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주차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동안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개발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진행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계획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51500" y="1524000"/>
            <a:ext cx="69850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개발</a:t>
            </a: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계획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63600" y="4305300"/>
            <a:ext cx="1752600" cy="2755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054100" y="4940300"/>
            <a:ext cx="13716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1800" b="false" i="false" u="none" strike="noStrike">
                <a:solidFill>
                  <a:srgbClr val="715130"/>
                </a:solidFill>
                <a:latin typeface="esamanru OTF Medium"/>
              </a:rPr>
              <a:t>1</a:t>
            </a:r>
            <a:r>
              <a:rPr lang="ko-KR" sz="1800" b="false" i="false" u="none" strike="noStrike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1700" y="4330700"/>
            <a:ext cx="1663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3600" y="5613400"/>
            <a:ext cx="17399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리소스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수집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2000" y="4305300"/>
            <a:ext cx="1752600" cy="2755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4762500" y="4940300"/>
            <a:ext cx="13716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1800" b="false" i="false" u="none" strike="noStrike">
                <a:solidFill>
                  <a:srgbClr val="715130"/>
                </a:solidFill>
                <a:latin typeface="esamanru OTF Medium"/>
              </a:rPr>
              <a:t>3</a:t>
            </a:r>
            <a:r>
              <a:rPr lang="ko-KR" sz="1800" b="false" i="false" u="none" strike="noStrike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22800" y="4330700"/>
            <a:ext cx="1663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84700" y="5410200"/>
            <a:ext cx="17399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일반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280400" y="4292600"/>
            <a:ext cx="1752600" cy="27559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8470900" y="4940300"/>
            <a:ext cx="13716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1800" b="false" i="false" u="none" strike="noStrike">
                <a:solidFill>
                  <a:srgbClr val="715130"/>
                </a:solidFill>
                <a:latin typeface="esamanru OTF Medium"/>
              </a:rPr>
              <a:t>5</a:t>
            </a:r>
            <a:r>
              <a:rPr lang="ko-KR" sz="1800" b="false" i="false" u="none" strike="noStrike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31200" y="4330700"/>
            <a:ext cx="1663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93100" y="5410200"/>
            <a:ext cx="17399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궁극기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76100" y="4305300"/>
            <a:ext cx="1752600" cy="2755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2166600" y="4953000"/>
            <a:ext cx="13716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1800" b="false" i="false" u="none" strike="noStrike">
                <a:solidFill>
                  <a:srgbClr val="715130"/>
                </a:solidFill>
                <a:latin typeface="esamanru OTF Medium"/>
              </a:rPr>
              <a:t>7</a:t>
            </a:r>
            <a:r>
              <a:rPr lang="ko-KR" sz="1800" b="false" i="false" u="none" strike="noStrike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14200" y="4318000"/>
            <a:ext cx="16891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07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88800" y="5422900"/>
            <a:ext cx="17399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684500" y="4318000"/>
            <a:ext cx="1752600" cy="27559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5862300" y="4953000"/>
            <a:ext cx="13716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1800" b="false" i="false" u="none" strike="noStrike">
                <a:solidFill>
                  <a:srgbClr val="715130"/>
                </a:solidFill>
                <a:latin typeface="esamanru OTF Medium"/>
              </a:rPr>
              <a:t>9</a:t>
            </a:r>
            <a:r>
              <a:rPr lang="ko-KR" sz="1800" b="false" i="false" u="none" strike="noStrike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22600" y="4343400"/>
            <a:ext cx="1663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09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84500" y="5397500"/>
            <a:ext cx="1739900" cy="1219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개선</a:t>
            </a:r>
          </a:p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</a:p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버그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717800" y="4305300"/>
            <a:ext cx="1752600" cy="27559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2895600" y="4940300"/>
            <a:ext cx="13716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1800" b="false" i="false" u="none" strike="noStrike">
                <a:solidFill>
                  <a:srgbClr val="715130"/>
                </a:solidFill>
                <a:latin typeface="esamanru OTF Medium"/>
              </a:rPr>
              <a:t>2</a:t>
            </a:r>
            <a:r>
              <a:rPr lang="ko-KR" sz="1800" b="false" i="false" u="none" strike="noStrike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30500" y="4318000"/>
            <a:ext cx="1701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CONTENTS 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717800" y="5410200"/>
            <a:ext cx="17399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모션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26200" y="4305300"/>
            <a:ext cx="1752600" cy="27559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6616700" y="4940300"/>
            <a:ext cx="13716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1800" b="false" i="false" u="none" strike="noStrike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1800" b="false" i="false" u="none" strike="noStrike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64300" y="4330700"/>
            <a:ext cx="1663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38900" y="5410200"/>
            <a:ext cx="17399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일반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21900" y="4305300"/>
            <a:ext cx="1752600" cy="27559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0312400" y="4826000"/>
            <a:ext cx="13716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1800" b="false" i="false" u="none" strike="noStrike">
                <a:solidFill>
                  <a:srgbClr val="715130"/>
                </a:solidFill>
                <a:latin typeface="esamanru OTF Medium"/>
              </a:rPr>
              <a:t>6</a:t>
            </a:r>
            <a:r>
              <a:rPr lang="ko-KR" sz="1800" b="false" i="false" u="none" strike="noStrike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72700" y="4330700"/>
            <a:ext cx="1663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06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34600" y="5410200"/>
            <a:ext cx="17399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플레이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UI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843000" y="4305300"/>
            <a:ext cx="1752600" cy="27559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14033500" y="4953000"/>
            <a:ext cx="13716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1800" b="false" i="false" u="none" strike="noStrike">
                <a:solidFill>
                  <a:srgbClr val="715130"/>
                </a:solidFill>
                <a:latin typeface="esamanru OTF Medium"/>
              </a:rPr>
              <a:t>8</a:t>
            </a:r>
            <a:r>
              <a:rPr lang="ko-KR" sz="1800" b="false" i="false" u="none" strike="noStrike">
                <a:solidFill>
                  <a:srgbClr val="715130"/>
                </a:solidFill>
                <a:ea typeface="esamanru OTF Medium"/>
              </a:rPr>
              <a:t>주차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81100" y="4343400"/>
            <a:ext cx="16637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CONTENTS </a:t>
            </a:r>
            <a:r>
              <a:rPr lang="en-US" sz="1500" b="false" i="false" u="none" strike="noStrike" spc="200">
                <a:solidFill>
                  <a:srgbClr val="B0966E"/>
                </a:solidFill>
                <a:latin typeface="Pretendard Medium"/>
              </a:rPr>
              <a:t>08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843000" y="5422900"/>
            <a:ext cx="17399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시작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