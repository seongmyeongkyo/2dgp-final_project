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esamanru OTF Bold"/>
      <p:bold r:id="rId9"/>
    </p:embeddedFont>
    <p:embeddedFont>
      <p:font typeface="esamanru OTF Medium"/>
      <p:bold r:id="rId10"/>
    </p:embeddedFont>
    <p:embeddedFont>
      <p:font typeface="Pretendard Medium"/>
      <p:bold r:id="rId11"/>
    </p:embeddedFont>
    <p:embeddedFont>
      <p:font typeface="Pretendard SemiBold"/>
      <p:bold r:id="rId12"/>
    </p:embeddedFont>
    <p:embeddedFont>
      <p:font typeface="Pretendard ExtraBold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2.fntdata" Type="http://schemas.openxmlformats.org/officeDocument/2006/relationships/font"/><Relationship Id="rId11" Target="fonts/font3.fntdata" Type="http://schemas.openxmlformats.org/officeDocument/2006/relationships/font"/><Relationship Id="rId12" Target="fonts/font4.fntdata" Type="http://schemas.openxmlformats.org/officeDocument/2006/relationships/font"/><Relationship Id="rId13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1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5100" y="8166100"/>
            <a:ext cx="154305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390900" y="5194300"/>
            <a:ext cx="11518900" cy="186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10500" b="false" i="false" u="none" strike="noStrike">
                <a:solidFill>
                  <a:srgbClr val="715130"/>
                </a:solidFill>
                <a:ea typeface="esamanru OTF Bold"/>
              </a:rPr>
              <a:t>최종</a:t>
            </a:r>
            <a:r>
              <a:rPr lang="en-US" sz="10500" b="false" i="false" u="none" strike="noStrike">
                <a:solidFill>
                  <a:srgbClr val="715130"/>
                </a:solidFill>
                <a:latin typeface="esamanru OTF Bold"/>
              </a:rPr>
              <a:t> </a:t>
            </a:r>
            <a:r>
              <a:rPr lang="ko-KR" sz="10500" b="false" i="false" u="none" strike="noStrike">
                <a:solidFill>
                  <a:srgbClr val="715130"/>
                </a:solidFill>
                <a:ea typeface="esamanru OTF Bold"/>
              </a:rPr>
              <a:t>발표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90800" y="3416300"/>
            <a:ext cx="130937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0000" b="false" i="false" u="none" strike="noStrike" spc="-100">
                <a:solidFill>
                  <a:srgbClr val="B0966E"/>
                </a:solidFill>
                <a:latin typeface="esamanru OTF Medium"/>
              </a:rPr>
              <a:t>2D</a:t>
            </a:r>
            <a:r>
              <a:rPr lang="ko-KR" sz="10000" b="false" i="false" u="none" strike="noStrike" spc="-100">
                <a:solidFill>
                  <a:srgbClr val="B0966E"/>
                </a:solidFill>
                <a:ea typeface="esamanru OTF Medium"/>
              </a:rPr>
              <a:t>게임프로그래밍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02100" y="8305800"/>
            <a:ext cx="100838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4300" b="false" i="false" u="none" strike="noStrike" spc="-100">
                <a:solidFill>
                  <a:srgbClr val="B0966E"/>
                </a:solidFill>
                <a:ea typeface="esamanru OTF Medium"/>
              </a:rPr>
              <a:t>게임공학과</a:t>
            </a:r>
            <a:r>
              <a:rPr lang="en-US" sz="4300" b="false" i="false" u="none" strike="noStrike" spc="-100">
                <a:solidFill>
                  <a:srgbClr val="B0966E"/>
                </a:solidFill>
                <a:latin typeface="esamanru OTF Medium"/>
              </a:rPr>
              <a:t> 2022184021 </a:t>
            </a:r>
            <a:r>
              <a:rPr lang="ko-KR" sz="4300" b="false" i="false" u="none" strike="noStrike" spc="-100">
                <a:solidFill>
                  <a:srgbClr val="B0966E"/>
                </a:solidFill>
                <a:ea typeface="esamanru OTF Medium"/>
              </a:rPr>
              <a:t>성명교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7493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1955800"/>
            <a:ext cx="16179800" cy="71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2768600"/>
            <a:ext cx="161798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3594100"/>
            <a:ext cx="161798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4445000"/>
            <a:ext cx="16179800" cy="711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044700" y="2311400"/>
            <a:ext cx="19685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7600" y="2044700"/>
            <a:ext cx="99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1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" y="1485900"/>
            <a:ext cx="163830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8729"/>
              </a:lnSpc>
            </a:pP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     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주차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         |                                                                       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목표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범위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및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개발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 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결과</a:t>
            </a:r>
            <a:r>
              <a:rPr lang="en-US" sz="2600" b="false" i="false" u="none" strike="noStrike">
                <a:solidFill>
                  <a:srgbClr val="715130"/>
                </a:solidFill>
                <a:latin typeface="Pretendard SemiBold"/>
              </a:rPr>
              <a:t>                                                    |         </a:t>
            </a:r>
            <a:r>
              <a:rPr lang="ko-KR" sz="2600" b="false" i="false" u="none" strike="noStrike">
                <a:solidFill>
                  <a:srgbClr val="715130"/>
                </a:solidFill>
                <a:ea typeface="Pretendard SemiBold"/>
              </a:rPr>
              <a:t>진척도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100" y="711200"/>
            <a:ext cx="50546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프로젝트</a:t>
            </a:r>
            <a:r>
              <a:rPr lang="en-US" sz="4300" b="false" i="false" u="none" strike="noStrike" spc="1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개발</a:t>
            </a:r>
            <a:r>
              <a:rPr lang="en-US" sz="4300" b="false" i="false" u="none" strike="noStrike" spc="1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4300" b="false" i="false" u="none" strike="noStrike" spc="100">
                <a:solidFill>
                  <a:srgbClr val="B0966E"/>
                </a:solidFill>
                <a:ea typeface="Pretendard ExtraBold"/>
              </a:rPr>
              <a:t>진척도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2857500"/>
            <a:ext cx="10541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2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00" y="3695700"/>
            <a:ext cx="10541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3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4533900"/>
            <a:ext cx="10541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4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5295900"/>
            <a:ext cx="16179800" cy="711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04900" y="5397500"/>
            <a:ext cx="11049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5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6172200"/>
            <a:ext cx="16179800" cy="7112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04900" y="6261100"/>
            <a:ext cx="10922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6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7010400"/>
            <a:ext cx="16179800" cy="711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04900" y="7086600"/>
            <a:ext cx="10922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7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7848600"/>
            <a:ext cx="16179800" cy="7112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155700" y="7950200"/>
            <a:ext cx="1028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8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4100" y="8674100"/>
            <a:ext cx="16179800" cy="711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55700" y="8763000"/>
            <a:ext cx="1016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800" b="false" i="false" u="none" strike="noStrike" spc="300">
                <a:solidFill>
                  <a:srgbClr val="B0966E"/>
                </a:solidFill>
                <a:latin typeface="Pretendard Medium"/>
              </a:rPr>
              <a:t>9</a:t>
            </a:r>
            <a:r>
              <a:rPr lang="ko-KR" sz="2800" b="false" i="false" u="none" strike="noStrike" spc="300">
                <a:solidFill>
                  <a:srgbClr val="B0966E"/>
                </a:solidFill>
                <a:ea typeface="Pretendard Medium"/>
              </a:rPr>
              <a:t>주차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44700" y="19431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44700" y="31496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44700" y="27940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44700" y="39624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44700" y="36068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44700" y="47879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44700" y="44323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32000" y="52959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44700" y="61595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44700" y="69977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44700" y="78486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32000" y="86614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계획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040100" y="22987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040100" y="31115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80%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40100" y="39370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040100" y="47879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530600" y="19685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배경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UI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스프라이트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수집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530600" y="22987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UI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수집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배경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리소스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수집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530600" y="27559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Idle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상태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좌우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이동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점프모션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30600" y="30988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Idle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상태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좌우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이동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점프모션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X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530600" y="35941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공격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(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평타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)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30600" y="39243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공격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(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평타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)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30600" y="44450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30600" y="47879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모든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발사체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530600" y="52959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4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궁극기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581400" y="61595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플레이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UI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530600" y="69977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선택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530600" y="78486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게임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시작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530600" y="86614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시스템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개선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및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버그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수정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327400" y="5613400"/>
            <a:ext cx="12166600" cy="355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2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궁극기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완벽하게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구현했으나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다른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2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가지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궁극기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스킬은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일반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스킬과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동일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044700" y="56515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040100" y="56388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90%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581400" y="65151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HP, MANA,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플레이되는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프로필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플레이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배경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구현완료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044700" y="65151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44700" y="73533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530600" y="73533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Player1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과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Player2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각각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캐릭터를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선택할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수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있도록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040100" y="65151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040100" y="73533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530600" y="81915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게임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시작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화면에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게임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시작버튼과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게임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종료버튼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완료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044700" y="81534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040100" y="81915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530600" y="9055100"/>
            <a:ext cx="11658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배경음악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충돌처리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,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승리한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플레이어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출력시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BGM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출력</a:t>
            </a: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 </a:t>
            </a: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구현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040100" y="9017000"/>
            <a:ext cx="1295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en-US" sz="2000" b="false" i="false" u="none" strike="noStrike" spc="100">
                <a:solidFill>
                  <a:srgbClr val="715130"/>
                </a:solidFill>
                <a:latin typeface="esamanru OTF Medium"/>
              </a:rPr>
              <a:t>100%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044700" y="9029700"/>
            <a:ext cx="1968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070"/>
              </a:lnSpc>
            </a:pPr>
            <a:r>
              <a:rPr lang="ko-KR" sz="2000" b="false" i="false" u="none" strike="noStrike" spc="100">
                <a:solidFill>
                  <a:srgbClr val="715130"/>
                </a:solidFill>
                <a:ea typeface="esamanru OTF Medium"/>
              </a:rPr>
              <a:t>결과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B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11137900" y="457200"/>
            <a:ext cx="39751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320000">
            <a:off x="3187700" y="457200"/>
            <a:ext cx="39751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933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1800" y="571500"/>
            <a:ext cx="152400" cy="15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03800" y="571500"/>
            <a:ext cx="1524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812800"/>
            <a:ext cx="16675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156200" y="2387600"/>
            <a:ext cx="12319000" cy="7073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23900" y="774700"/>
            <a:ext cx="133604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Github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커밋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통계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-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주별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커밋</a:t>
            </a:r>
            <a:r>
              <a:rPr lang="en-US" sz="7200" b="false" i="false" u="none" strike="noStrike" spc="200">
                <a:solidFill>
                  <a:srgbClr val="B0966E"/>
                </a:solidFill>
                <a:latin typeface="Pretendard ExtraBold"/>
              </a:rPr>
              <a:t> </a:t>
            </a:r>
            <a:r>
              <a:rPr lang="ko-KR" sz="7200" b="false" i="false" u="none" strike="noStrike" spc="200">
                <a:solidFill>
                  <a:srgbClr val="B0966E"/>
                </a:solidFill>
                <a:ea typeface="Pretendard ExtraBold"/>
              </a:rPr>
              <a:t>횟수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800" y="2209800"/>
            <a:ext cx="6286500" cy="709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Sep 28 : 1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Oct 5 : 1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Oct 19 : 3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Nov 2 : 41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Nov 9 : 41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Nov 16 : 30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Nov 23 : 21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Nov 30 : 12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08729"/>
              </a:lnSpc>
            </a:pPr>
            <a:r>
              <a:rPr lang="en-US" sz="2500" b="false" i="false" u="none" strike="noStrike">
                <a:solidFill>
                  <a:srgbClr val="715130"/>
                </a:solidFill>
                <a:latin typeface="Pretendard SemiBold"/>
              </a:rPr>
              <a:t>Week of Dec 7 : 43</a:t>
            </a:r>
            <a:r>
              <a:rPr lang="ko-KR" sz="2500" b="false" i="false" u="none" strike="noStrike">
                <a:solidFill>
                  <a:srgbClr val="715130"/>
                </a:solidFill>
                <a:ea typeface="Pretendard SemiBold"/>
              </a:rPr>
              <a:t>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